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" y="1371600"/>
            <a:ext cx="73152" cy="41148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200" b="1">
                <a:solidFill>
                  <a:srgbClr val="FFFFFF"/>
                </a:solidFill>
                <a:latin typeface="IBM Plex Sans"/>
              </a:defRPr>
            </a:pPr>
            <a:r>
              <a:t>Turbonomic &amp; SQL Server</a:t>
            </a:r>
            <a:br/>
            <a:r>
              <a:t>Fleet Inventory Integration</a:t>
            </a:r>
          </a:p>
          <a:p>
            <a:pPr>
              <a:spcAft>
                <a:spcPts val="4000"/>
              </a:spcAft>
              <a:defRPr sz="2000">
                <a:solidFill>
                  <a:srgbClr val="A8C0FF"/>
                </a:solidFill>
                <a:latin typeface="IBM Plex Sans"/>
              </a:defRPr>
            </a:pPr>
            <a:r>
              <a:t>End-to-End Architectural Data Flow &amp; Discovery Automation</a:t>
            </a:r>
          </a:p>
          <a:p>
            <a:pPr>
              <a:defRPr sz="1200">
                <a:solidFill>
                  <a:srgbClr val="6C757D"/>
                </a:solidFill>
                <a:latin typeface="IBM Plex Sans"/>
              </a:defRPr>
            </a:pPr>
            <a:r>
              <a:t>Automated WMI/WinRM Provisioning | Turbonomic REST API Integration | PSRemoting Metadata Harvester | Consolidated Fleet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Executive Overview: End-to-End Orchestrated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695" y="1371600"/>
            <a:ext cx="2468880" cy="4572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8855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STAGE 01</a:t>
            </a:r>
          </a:p>
          <a:p>
            <a:pPr>
              <a:spcAft>
                <a:spcPts val="600"/>
              </a:spcAft>
              <a:defRPr sz="1500" b="1">
                <a:solidFill>
                  <a:srgbClr val="161D2C"/>
                </a:solidFill>
                <a:latin typeface="IBM Plex Sans"/>
              </a:defRPr>
            </a:pPr>
            <a:r>
              <a:t>Target VM Security &amp; WinRM</a:t>
            </a:r>
          </a:p>
          <a:p>
            <a:pPr>
              <a:spcAft>
                <a:spcPts val="12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Configure-TurbonomicWMI.ps1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Creates local service user (turbowmi)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Grants WMI namespaces remote enable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Enables WinRM, NTLM &amp; Remote Registry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Opens firewall ports (5985, 135, dynamic)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6607" y="1371600"/>
            <a:ext cx="2468880" cy="4572000"/>
          </a:xfrm>
          <a:prstGeom prst="roundRect">
            <a:avLst/>
          </a:prstGeom>
          <a:solidFill>
            <a:srgbClr val="E0F0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23767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STAGE 02</a:t>
            </a:r>
          </a:p>
          <a:p>
            <a:pPr>
              <a:spcAft>
                <a:spcPts val="600"/>
              </a:spcAft>
              <a:defRPr sz="1500" b="1">
                <a:solidFill>
                  <a:srgbClr val="161D2C"/>
                </a:solidFill>
                <a:latin typeface="IBM Plex Sans"/>
              </a:defRPr>
            </a:pPr>
            <a:r>
              <a:t>WMI Target API Registration</a:t>
            </a:r>
          </a:p>
          <a:p>
            <a:pPr>
              <a:spcAft>
                <a:spcPts val="1200"/>
              </a:spcAft>
              <a:defRPr sz="950" b="1">
                <a:solidFill>
                  <a:srgbClr val="7832C8"/>
                </a:solidFill>
                <a:latin typeface="Courier New"/>
              </a:defRPr>
            </a:pPr>
            <a:r>
              <a:t>create_wmi_target.py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Connects to Turbonomic REST API (v3)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Creates restricted IP-scoped groups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Registers guest OS credentials target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Triggers discovery validation &amp; status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1519" y="1371600"/>
            <a:ext cx="2468880" cy="4572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8679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STAGE 03</a:t>
            </a:r>
          </a:p>
          <a:p>
            <a:pPr>
              <a:spcAft>
                <a:spcPts val="600"/>
              </a:spcAft>
              <a:defRPr sz="1500" b="1">
                <a:solidFill>
                  <a:srgbClr val="161D2C"/>
                </a:solidFill>
                <a:latin typeface="IBM Plex Sans"/>
              </a:defRPr>
            </a:pPr>
            <a:r>
              <a:t>Deep SQL &amp; OS Harvest</a:t>
            </a:r>
          </a:p>
          <a:p>
            <a:pPr>
              <a:spcAft>
                <a:spcPts val="12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Get-SQLServerInventory.ps1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Remote connection via WinRM/PSRemoting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Queries Windows config &amp; host hardware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Discovers SQL Server instances &amp; state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Queries engine &amp; databases metadata via local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6431" y="1371600"/>
            <a:ext cx="2468880" cy="4572000"/>
          </a:xfrm>
          <a:prstGeom prst="roundRect">
            <a:avLst/>
          </a:prstGeom>
          <a:solidFill>
            <a:srgbClr val="E0F0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3591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STAGE 04</a:t>
            </a:r>
          </a:p>
          <a:p>
            <a:pPr>
              <a:spcAft>
                <a:spcPts val="600"/>
              </a:spcAft>
              <a:defRPr sz="1500" b="1">
                <a:solidFill>
                  <a:srgbClr val="161D2C"/>
                </a:solidFill>
                <a:latin typeface="IBM Plex Sans"/>
              </a:defRPr>
            </a:pPr>
            <a:r>
              <a:t>Master Report &amp; Dashboard</a:t>
            </a:r>
          </a:p>
          <a:p>
            <a:pPr>
              <a:spcAft>
                <a:spcPts val="12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Invoke-FleetReport.ps1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Coordinates stage 2 &amp; 3 scripts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Reads both Turbonomic &amp; SQL JSON data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Performs dynamic merge on Name/IP key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• Generates unified dashboard with KPI cards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Stage 1: Target Windows VM Security &amp; Protocol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695" y="1371600"/>
            <a:ext cx="50292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4575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62FE"/>
                </a:solidFill>
                <a:latin typeface="IBM Plex Sans"/>
              </a:defRPr>
            </a:pPr>
            <a:r>
              <a:t>WMI Service Account (Option B - Hardened Non-Admin)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Dedicated User Creation: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Creates 'turbowmi' user locally, disables password expiry to ensure uninterrupted monitoring.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Required Local Group Membership: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Adds account to 'WinRMRemoteWMIUsers__' (or Remote Management Users) and 'Performance Monitor Users' (no Local Admin required).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WMI Namespace Permissions: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Grants 'Execute Methods', 'Enable Account', and 'Remote Enable' on Root and Root\CIMV2 namespaces, recursively applied to all subnamespaces.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UAC Remote Access Fix (Registry):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Sets 'LocalAccountTokenFilterPolicy = 1' in HKLM:\SOFTWARE\Microsoft\Windows\CurrentVersion\Policies\System. Crucial to allow non-RID 500 local accounts remote access via WinRM.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799" y="1371600"/>
            <a:ext cx="50292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79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62FE"/>
                </a:solidFill>
                <a:latin typeface="IBM Plex Sans"/>
              </a:defRPr>
            </a:pPr>
            <a:r>
              <a:t>WinRM HTTP, Remote Registry &amp; Port Openings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WS-Management Configuration: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Runs 'winrm quickconfig' to start service and set to Automatic. Configures default HTTP listener on port 5985.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Negotiate Authentication &amp; Encr.: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Enables 'Negotiate' auth to support NTLM for WORKGROUP local identities. Set 'AllowUnencrypted = True' for SOAP messages (auth is still encrypted).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Remote Registry Activation: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Set 'RemoteRegistry' service to Automatic startup and starts it immediately. Mandatory for SQL Server instances discovery by external tools.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Firewall Rules Deployment: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Opens ports in Windows Firewall: TCP 5985 (WinRM HTTP), TCP 135 (RPC Endport Mapper), and TCP 49152-65535 (WMI Dynamic RPC Range).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Stage 2: WMI Target REST API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695" y="137160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8855" y="15087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62FE"/>
                </a:solidFill>
                <a:latin typeface="IBM Plex Sans"/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600" b="1">
                <a:solidFill>
                  <a:srgbClr val="161D2C"/>
                </a:solidFill>
                <a:latin typeface="IBM Plex Sans"/>
              </a:defRPr>
            </a:pPr>
            <a:r>
              <a:t>Auth &amp; Probe Verification</a:t>
            </a:r>
          </a:p>
          <a:p>
            <a:pPr>
              <a:defRPr sz="1100" b="1">
                <a:solidFill>
                  <a:srgbClr val="212529"/>
                </a:solidFill>
                <a:latin typeface="IBM Plex Sans"/>
              </a:defRPr>
            </a:pPr>
            <a:r>
              <a:t>Key API Calls:</a:t>
            </a:r>
          </a:p>
          <a:p>
            <a:pPr>
              <a:spcAft>
                <a:spcPts val="4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  • POST /api/v3/login</a:t>
            </a:r>
          </a:p>
          <a:p>
            <a:pPr>
              <a:spcAft>
                <a:spcPts val="1400"/>
              </a:spcAft>
              <a:defRPr sz="950" b="1">
                <a:solidFill>
                  <a:srgbClr val="0F62FE"/>
                </a:solidFill>
                <a:latin typeface="Courier New"/>
              </a:defRPr>
            </a:pPr>
            <a:r>
              <a:t>  • GET /api/v3/targets/specs</a:t>
            </a:r>
          </a:p>
          <a:p>
            <a:pPr>
              <a:spcAft>
                <a:spcPts val="0"/>
              </a:spcAft>
              <a:defRPr sz="1150">
                <a:solidFill>
                  <a:srgbClr val="212529"/>
                </a:solidFill>
                <a:latin typeface="IBM Plex Sans"/>
              </a:defRPr>
            </a:pPr>
            <a:r>
              <a:t>Authenticates using admin credentials (turboplanuser). Queries the Target Specification endpoint to verify that the 'WMI' probe is actively enabled on the Turbonomic instance.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0151" y="137160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47311" y="15087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62FE"/>
                </a:solidFill>
                <a:latin typeface="IBM Plex Sans"/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600" b="1">
                <a:solidFill>
                  <a:srgbClr val="161D2C"/>
                </a:solidFill>
                <a:latin typeface="IBM Plex Sans"/>
              </a:defRPr>
            </a:pPr>
            <a:r>
              <a:t>IP Scope Resolution &amp; Grouping</a:t>
            </a:r>
          </a:p>
          <a:p>
            <a:pPr>
              <a:defRPr sz="1100" b="1">
                <a:solidFill>
                  <a:srgbClr val="212529"/>
                </a:solidFill>
                <a:latin typeface="IBM Plex Sans"/>
              </a:defRPr>
            </a:pPr>
            <a:r>
              <a:t>Key API Calls:</a:t>
            </a:r>
          </a:p>
          <a:p>
            <a:pPr>
              <a:spcAft>
                <a:spcPts val="4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  • POST /api/v3/search</a:t>
            </a:r>
          </a:p>
          <a:p>
            <a:pPr>
              <a:spcAft>
                <a:spcPts val="14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  • POST /api/v3/groups</a:t>
            </a:r>
          </a:p>
          <a:p>
            <a:pPr>
              <a:spcAft>
                <a:spcPts val="0"/>
              </a:spcAft>
              <a:defRPr sz="1150">
                <a:solidFill>
                  <a:srgbClr val="212529"/>
                </a:solidFill>
                <a:latin typeface="IBM Plex Sans"/>
              </a:defRPr>
            </a:pPr>
            <a:r>
              <a:t>Searches for the target IP in existing VM entities. If the VM is not yet discovered, creates a dynamic, narrow IP-scoped group ('WMI-Scope-IP' with 'vmsByGuestName' rule) to contain WMI credentials target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607" y="137160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5767" y="15087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62FE"/>
                </a:solidFill>
                <a:latin typeface="IBM Plex Sans"/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600" b="1">
                <a:solidFill>
                  <a:srgbClr val="161D2C"/>
                </a:solidFill>
                <a:latin typeface="IBM Plex Sans"/>
              </a:defRPr>
            </a:pPr>
            <a:r>
              <a:t>POST Target &amp; Rediscover</a:t>
            </a:r>
          </a:p>
          <a:p>
            <a:pPr>
              <a:defRPr sz="1100" b="1">
                <a:solidFill>
                  <a:srgbClr val="212529"/>
                </a:solidFill>
                <a:latin typeface="IBM Plex Sans"/>
              </a:defRPr>
            </a:pPr>
            <a:r>
              <a:t>Key API Calls:</a:t>
            </a:r>
          </a:p>
          <a:p>
            <a:pPr>
              <a:spcAft>
                <a:spcPts val="4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  • POST /api/v3/targets</a:t>
            </a:r>
          </a:p>
          <a:p>
            <a:pPr>
              <a:spcAft>
                <a:spcPts val="1400"/>
              </a:spcAft>
              <a:defRPr sz="950" b="1">
                <a:solidFill>
                  <a:srgbClr val="24A148"/>
                </a:solidFill>
                <a:latin typeface="Courier New"/>
              </a:defRPr>
            </a:pPr>
            <a:r>
              <a:t>  • POST /api/v3/targets/{id}/rediscover</a:t>
            </a:r>
          </a:p>
          <a:p>
            <a:pPr>
              <a:spcAft>
                <a:spcPts val="0"/>
              </a:spcAft>
              <a:defRPr sz="1150">
                <a:solidFill>
                  <a:srgbClr val="212529"/>
                </a:solidFill>
                <a:latin typeface="IBM Plex Sans"/>
              </a:defRPr>
            </a:pPr>
            <a:r>
              <a:t>Constructs TargetApiDTO: Category='Guest OS Processes', Type='WMI', inputs: targetEntities (the resolved group UUID), username, password, NTLM=true, secure=false. Submits DTO, triggers rediscovery, and polls target state until 'Validated'.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Stage 3: Deep SQL Server &amp; DB Metadata Harvester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695" y="1371600"/>
            <a:ext cx="10668304" cy="1463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695" y="137160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300" b="1">
                <a:solidFill>
                  <a:srgbClr val="0F62FE"/>
                </a:solidFill>
                <a:latin typeface="IBM Plex Sans"/>
              </a:defRPr>
            </a:pPr>
            <a:r>
              <a:t>WINDOWS &amp; VM</a:t>
            </a:r>
          </a:p>
        </p:txBody>
      </p:sp>
      <p:sp>
        <p:nvSpPr>
          <p:cNvPr id="5" name="Rectangle 4"/>
          <p:cNvSpPr/>
          <p:nvPr/>
        </p:nvSpPr>
        <p:spPr>
          <a:xfrm>
            <a:off x="2864815" y="1508760"/>
            <a:ext cx="18288" cy="11887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7695" y="1508760"/>
            <a:ext cx="8138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61D2C"/>
                </a:solidFill>
                <a:latin typeface="IBM Plex Sans"/>
              </a:defRPr>
            </a:pPr>
            <a:r>
              <a:t>Local Server Inventory</a:t>
            </a:r>
          </a:p>
          <a:p>
            <a:pPr>
              <a:defRPr sz="1050">
                <a:solidFill>
                  <a:srgbClr val="212529"/>
                </a:solidFill>
                <a:latin typeface="IBM Plex Sans"/>
              </a:defRPr>
            </a:pPr>
            <a:r>
              <a:t>Initiates PSRemoting/WinRM to collect machine-specific configuration: FQDN, domain/workgroup membership, manufacturer, bios UUID, serial number, OS build/version, local logical disks, remaining free space, physical network adapters, assigned IP addresses, DNS servers, and default gateways.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695" y="2999232"/>
            <a:ext cx="10668304" cy="1463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" y="2999232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300" b="1">
                <a:solidFill>
                  <a:srgbClr val="0F62FE"/>
                </a:solidFill>
                <a:latin typeface="IBM Plex Sans"/>
              </a:defRPr>
            </a:pPr>
            <a:r>
              <a:t>SQL WMI / REGISTRY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4815" y="3136392"/>
            <a:ext cx="18288" cy="11887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7695" y="3136392"/>
            <a:ext cx="8138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61D2C"/>
                </a:solidFill>
                <a:latin typeface="IBM Plex Sans"/>
              </a:defRPr>
            </a:pPr>
            <a:r>
              <a:t>Service and Instance Discovery</a:t>
            </a:r>
          </a:p>
          <a:p>
            <a:pPr>
              <a:defRPr sz="1050">
                <a:solidFill>
                  <a:srgbClr val="212529"/>
                </a:solidFill>
                <a:latin typeface="IBM Plex Sans"/>
              </a:defRPr>
            </a:pPr>
            <a:r>
              <a:t>Inspects WMI namespace on target (e.g. root\Microsoft\SqlServer\ComputerManagement11/12/15) to discover active database instances (default &amp; named), service states, startup accounts, engine binaries paths. Extracts exact database patches levels, service packs, and TCP port configs directly from remote Registry.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4626864"/>
            <a:ext cx="10668304" cy="1463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" y="4626864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300" b="1">
                <a:solidFill>
                  <a:srgbClr val="0F62FE"/>
                </a:solidFill>
                <a:latin typeface="IBM Plex Sans"/>
              </a:defRPr>
            </a:pPr>
            <a:r>
              <a:t>SQL ENGINE / T-SQL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4815" y="4764024"/>
            <a:ext cx="18288" cy="11887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7695" y="4764024"/>
            <a:ext cx="8138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61D2C"/>
                </a:solidFill>
                <a:latin typeface="IBM Plex Sans"/>
              </a:defRPr>
            </a:pPr>
            <a:r>
              <a:t>Local Database and Feature Catalog</a:t>
            </a:r>
          </a:p>
          <a:p>
            <a:pPr>
              <a:defRPr sz="1050">
                <a:solidFill>
                  <a:srgbClr val="212529"/>
                </a:solidFill>
                <a:latin typeface="IBM Plex Sans"/>
              </a:defRPr>
            </a:pPr>
            <a:r>
              <a:t>Establishes a local database connection using integrated security. Runs detailed metadata catalog queries: instances clustering/HADR availability, security authentication modes, and collations. Loops through databases to extract recovery models, file sizes, transaction logs reuse status, growth specs, Query Store, and database encryption.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Stage 4: Consolidated Master Fleet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695" y="1371600"/>
            <a:ext cx="3328416" cy="4572000"/>
          </a:xfrm>
          <a:prstGeom prst="rect">
            <a:avLst/>
          </a:prstGeom>
          <a:solidFill>
            <a:srgbClr val="FFFFFF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8855" y="15087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62FE"/>
                </a:solidFill>
                <a:latin typeface="IBM Plex Sans"/>
              </a:defRPr>
            </a:pPr>
            <a:r>
              <a:t>Pipeline Inputs &amp; Args</a:t>
            </a:r>
          </a:p>
          <a:p>
            <a:pPr>
              <a:defRPr sz="1200" b="1">
                <a:solidFill>
                  <a:srgbClr val="161D2C"/>
                </a:solidFill>
                <a:latin typeface="IBM Plex Sans"/>
              </a:defRPr>
            </a:pPr>
            <a:r>
              <a:t>•  servers.csv:</a:t>
            </a:r>
          </a:p>
          <a:p>
            <a:pPr>
              <a:spcAft>
                <a:spcPts val="8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    Central configuration file listing VM names and remote IPv4 addresses.</a:t>
            </a:r>
          </a:p>
          <a:p>
            <a:pPr>
              <a:defRPr sz="1200" b="1">
                <a:solidFill>
                  <a:srgbClr val="161D2C"/>
                </a:solidFill>
                <a:latin typeface="IBM Plex Sans"/>
              </a:defRPr>
            </a:pPr>
            <a:r>
              <a:t>•  turbonomic/config.json:</a:t>
            </a:r>
          </a:p>
          <a:p>
            <a:pPr>
              <a:spcAft>
                <a:spcPts val="8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    REST API connection configuration: target url, credentials, SSL verification state, timeout settings.</a:t>
            </a:r>
          </a:p>
          <a:p>
            <a:pPr>
              <a:defRPr sz="1200" b="1">
                <a:solidFill>
                  <a:srgbClr val="161D2C"/>
                </a:solidFill>
                <a:latin typeface="IBM Plex Sans"/>
              </a:defRPr>
            </a:pPr>
            <a:r>
              <a:t>•  Days (Default: 1):</a:t>
            </a:r>
          </a:p>
          <a:p>
            <a:pPr>
              <a:spcAft>
                <a:spcPts val="8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    Historical query window passed to Python client to calculate peak CPU/Mem/IO utilization spikes.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0151" y="1371600"/>
            <a:ext cx="3328416" cy="4572000"/>
          </a:xfrm>
          <a:prstGeom prst="rect">
            <a:avLst/>
          </a:prstGeom>
          <a:solidFill>
            <a:srgbClr val="E0F0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47311" y="15087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61D2C"/>
                </a:solidFill>
                <a:latin typeface="IBM Plex Sans"/>
              </a:defRPr>
            </a:pPr>
            <a:r>
              <a:t>Double-JSON Join Logic</a:t>
            </a:r>
          </a:p>
          <a:p>
            <a:pPr>
              <a:defRPr sz="1100">
                <a:solidFill>
                  <a:srgbClr val="212529"/>
                </a:solidFill>
                <a:latin typeface="IBM Plex Sans"/>
              </a:defRPr>
            </a:pPr>
            <a:r>
              <a:t>Invoke-FleetReport.ps1 triggers the sub-collectors sequentially, then ingests both structured JSON outputs:</a:t>
            </a:r>
            <a:br/>
            <a:br/>
            <a:r>
              <a:t>1. Ingests SQL inventory JSON</a:t>
            </a:r>
            <a:br/>
            <a:r>
              <a:t>2. Ingests Turbonomic VM metrics JSON</a:t>
            </a:r>
            <a:br/>
            <a:br/>
            <a:r>
              <a:t>Merge Key resolution:</a:t>
            </a:r>
            <a:br/>
            <a:r>
              <a:t>The orchestrator correlates records by mapping VM names and host IP addresses. It resolves name discrepancies by normalizing case and comparing installed network interface IP lists, creating a 1:1 unified record map per target VM.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58607" y="1371600"/>
            <a:ext cx="3328416" cy="4572000"/>
          </a:xfrm>
          <a:prstGeom prst="rect">
            <a:avLst/>
          </a:prstGeom>
          <a:solidFill>
            <a:srgbClr val="FFFFFF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5767" y="15087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62FE"/>
                </a:solidFill>
                <a:latin typeface="IBM Plex Sans"/>
              </a:defRPr>
            </a:pPr>
            <a:r>
              <a:t>Unified Fleet Dashboard</a:t>
            </a:r>
          </a:p>
          <a:p>
            <a:pPr>
              <a:defRPr sz="1200" b="1">
                <a:solidFill>
                  <a:srgbClr val="161D2C"/>
                </a:solidFill>
                <a:latin typeface="IBM Plex Sans"/>
              </a:defRPr>
            </a:pPr>
            <a:r>
              <a:t>•  Dashboard HTML:</a:t>
            </a:r>
          </a:p>
          <a:p>
            <a:pPr>
              <a:spcAft>
                <a:spcPts val="8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    Generates single, fully responsive HTML dashboard. Includes inline CSS styling, sidebar navigations, and direct CSV download options.</a:t>
            </a:r>
          </a:p>
          <a:p>
            <a:pPr>
              <a:defRPr sz="1200" b="1">
                <a:solidFill>
                  <a:srgbClr val="161D2C"/>
                </a:solidFill>
                <a:latin typeface="IBM Plex Sans"/>
              </a:defRPr>
            </a:pPr>
            <a:r>
              <a:t>•  Key Metrics Panel:</a:t>
            </a:r>
          </a:p>
          <a:p>
            <a:pPr>
              <a:spcAft>
                <a:spcPts val="8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    Highlights total core counts, provisioned memory vs peak utilization, host storage caps vs database file allocations, monthly cloud cost, and estimated savings.</a:t>
            </a:r>
          </a:p>
          <a:p>
            <a:pPr>
              <a:defRPr sz="1200" b="1">
                <a:solidFill>
                  <a:srgbClr val="161D2C"/>
                </a:solidFill>
                <a:latin typeface="IBM Plex Sans"/>
              </a:defRPr>
            </a:pPr>
            <a:r>
              <a:t>•  Active Actions Queue:</a:t>
            </a:r>
          </a:p>
          <a:p>
            <a:pPr>
              <a:spcAft>
                <a:spcPts val="8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    Lists pending resize, scaling, buy, and move actions with exact risk categories, current vs recommended VM sizes, and monthly savings.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End-to-End Architectural Data Flow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695" y="2011680"/>
            <a:ext cx="2926080" cy="3474720"/>
          </a:xfrm>
          <a:prstGeom prst="roundRect">
            <a:avLst/>
          </a:prstGeom>
          <a:solidFill>
            <a:srgbClr val="161D2C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695" y="21031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Central Orchestration</a:t>
            </a:r>
            <a:br/>
            <a:r>
              <a:t>(Management VM / Script)</a:t>
            </a:r>
          </a:p>
          <a:p>
            <a:pPr>
              <a:spcAft>
                <a:spcPts val="600"/>
              </a:spcAft>
              <a:defRPr sz="1000">
                <a:solidFill>
                  <a:srgbClr val="C8DCFF"/>
                </a:solidFill>
                <a:latin typeface="IBM Plex Sans"/>
              </a:defRPr>
            </a:pPr>
            <a:r>
              <a:t>Invoke-FleetReport.ps1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IBM Plex Sans"/>
              </a:defRPr>
            </a:pPr>
            <a:r>
              <a:t>• Reads servers.csv &amp; config.json</a:t>
            </a:r>
          </a:p>
          <a:p>
            <a:pPr>
              <a:spcAft>
                <a:spcPts val="600"/>
              </a:spcAft>
              <a:defRPr sz="1000">
                <a:solidFill>
                  <a:srgbClr val="C8DCFF"/>
                </a:solidFill>
                <a:latin typeface="IBM Plex Sans"/>
              </a:defRPr>
            </a:pPr>
            <a:r>
              <a:t>• Runs Get-SQLServerInventory.ps1</a:t>
            </a:r>
          </a:p>
          <a:p>
            <a:pPr>
              <a:spcAft>
                <a:spcPts val="600"/>
              </a:spcAft>
              <a:defRPr sz="1000">
                <a:solidFill>
                  <a:srgbClr val="C8DCFF"/>
                </a:solidFill>
                <a:latin typeface="IBM Plex Sans"/>
              </a:defRPr>
            </a:pPr>
            <a:r>
              <a:t>• Runs get_vm_metrics.py (Python)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IBM Plex Sans"/>
              </a:defRPr>
            </a:pPr>
            <a:r>
              <a:t>• Performs Double-JSON key merge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IBM Plex Sans"/>
              </a:defRPr>
            </a:pPr>
            <a:r>
              <a:t>• Writes fleet-dashboard.html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560320"/>
            <a:ext cx="1005840" cy="365760"/>
          </a:xfrm>
          <a:prstGeom prst="rightArrow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2011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212529"/>
                </a:solidFill>
                <a:latin typeface="IBM Plex Sans"/>
              </a:defRPr>
            </a:pPr>
            <a:r>
              <a:t>WinRM (5985) &amp; SSH (22)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4389120"/>
            <a:ext cx="1005840" cy="365760"/>
          </a:xfrm>
          <a:prstGeom prst="rightArrow">
            <a:avLst/>
          </a:prstGeom>
          <a:solidFill>
            <a:srgbClr val="783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38404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212529"/>
                </a:solidFill>
                <a:latin typeface="IBM Plex Sans"/>
              </a:defRPr>
            </a:pPr>
            <a:r>
              <a:t>REST HTTPS (443)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926080" cy="2011680"/>
          </a:xfrm>
          <a:prstGeom prst="roundRect">
            <a:avLst/>
          </a:prstGeom>
          <a:solidFill>
            <a:srgbClr val="F4F6F8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Target Hosts &amp; Databases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OS Support: Windows &amp; Linux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WMI (WinRM) / Native SSH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SQL Server &amp; Oracle Databases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Engine Metadata Probes (T-SQL/SQL)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749039"/>
            <a:ext cx="2926080" cy="2011680"/>
          </a:xfrm>
          <a:prstGeom prst="roundRect">
            <a:avLst/>
          </a:prstGeom>
          <a:solidFill>
            <a:srgbClr val="E0F0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8404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Turbonomic API / Server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REST API v3 (Endpoints specs)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IP Scoped Groups (targetEntities)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VCPU/VMem VM commodity metrics</a:t>
            </a:r>
          </a:p>
          <a:p>
            <a:pPr>
              <a:spcAft>
                <a:spcPts val="200"/>
              </a:spcAft>
              <a:defRPr sz="950">
                <a:solidFill>
                  <a:srgbClr val="212529"/>
                </a:solidFill>
                <a:latin typeface="IBM Plex Sans"/>
              </a:defRPr>
            </a:pPr>
            <a:r>
              <a:t>• Pending action &amp; recommended sizes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321040" y="3108960"/>
            <a:ext cx="365760" cy="914400"/>
          </a:xfrm>
          <a:prstGeom prst="downArrow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212529"/>
                </a:solidFill>
                <a:latin typeface="IBM Plex Sans"/>
              </a:defRPr>
            </a:pPr>
            <a:r>
              <a:t>WMI WinRM / SSH Probes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01168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10312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24A148"/>
                </a:solidFill>
                <a:latin typeface="IBM Plex Sans"/>
              </a:defRPr>
            </a:pPr>
            <a:r>
              <a:t>Output Artifacts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  <a:latin typeface="IBM Plex Sans"/>
              </a:defRPr>
            </a:pPr>
            <a:r>
              <a:t>fleet-dashboard.html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  <a:latin typeface="IBM Plex Sans"/>
              </a:defRPr>
            </a:pPr>
            <a:r>
              <a:t>• High-level KPI Cards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  <a:latin typeface="IBM Plex Sans"/>
              </a:defRPr>
            </a:pPr>
            <a:r>
              <a:t>• Resource Capacity gauges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  <a:latin typeface="IBM Plex Sans"/>
              </a:defRPr>
            </a:pPr>
            <a:r>
              <a:t>• Detailed database specs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  <a:latin typeface="IBM Plex Sans"/>
              </a:defRPr>
            </a:pPr>
            <a:r>
              <a:t>• Pending scaling actions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  <a:latin typeface="IBM Plex Sans"/>
              </a:defRPr>
            </a:pPr>
            <a:r>
              <a:t>• Downloadable CSV reports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94560" y="5577840"/>
            <a:ext cx="5486400" cy="274320"/>
          </a:xfrm>
          <a:prstGeom prst="rightArrow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24A148"/>
                </a:solidFill>
                <a:latin typeface="IBM Plex Sans"/>
              </a:defRPr>
            </a:pPr>
            <a:r>
              <a:t>Saves Merged Data &amp;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Cloud Architecture: AWS-Native Deployment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695" y="137160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8855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9900"/>
                </a:solidFill>
                <a:latin typeface="IBM Plex Sans"/>
              </a:defRPr>
            </a:pPr>
            <a:r>
              <a:t>COMPUTE &amp; TARGETS</a:t>
            </a:r>
          </a:p>
          <a:p>
            <a:pPr>
              <a:spcAft>
                <a:spcPts val="1200"/>
              </a:spcAft>
              <a:defRPr sz="1400" b="1">
                <a:solidFill>
                  <a:srgbClr val="161D2C"/>
                </a:solidFill>
                <a:latin typeface="IBM Plex Sans"/>
              </a:defRPr>
            </a:pPr>
            <a:r>
              <a:t>Amazon EC2 (Windows)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Self-managed SQL Server deployed on EC2 instances in a Private VPC Subnet.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EBS storage volumes monitored by Turbonomic for dynamic IOPS and storage scale alerts.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VPC Security Groups restrict WinRM HTTP traffic (5985) only to the management orchestrator.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6607" y="137160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23767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9900"/>
                </a:solidFill>
                <a:latin typeface="IBM Plex Sans"/>
              </a:defRPr>
            </a:pPr>
            <a:r>
              <a:t>SECURE ORCHESTRATION</a:t>
            </a:r>
          </a:p>
          <a:p>
            <a:pPr>
              <a:spcAft>
                <a:spcPts val="1200"/>
              </a:spcAft>
              <a:defRPr sz="1400" b="1">
                <a:solidFill>
                  <a:srgbClr val="161D2C"/>
                </a:solidFill>
                <a:latin typeface="IBM Plex Sans"/>
              </a:defRPr>
            </a:pPr>
            <a:r>
              <a:t>AWS SSM &amp; Secrets Manager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AWS Systems Manager Run Command automates Configure-TurbonomicWMI.ps1 execution.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AWS Secrets Manager securely stores and rotates the 'turbowmi' service account credentials.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SSM Parameter Store stores Turbonomic API URLs and configuration details, removing hardcoded local configs.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1519" y="137160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8679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9900"/>
                </a:solidFill>
                <a:latin typeface="IBM Plex Sans"/>
              </a:defRPr>
            </a:pPr>
            <a:r>
              <a:t>MONITORING &amp; COGNITION</a:t>
            </a:r>
          </a:p>
          <a:p>
            <a:pPr>
              <a:spcAft>
                <a:spcPts val="1200"/>
              </a:spcAft>
              <a:defRPr sz="1400" b="1">
                <a:solidFill>
                  <a:srgbClr val="161D2C"/>
                </a:solidFill>
                <a:latin typeface="IBM Plex Sans"/>
              </a:defRPr>
            </a:pPr>
            <a:r>
              <a:t>Turbonomic on AWS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Turbonomic Marketplace Appliance or SaaS deployed inside a dedicated Management VPC.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Uses AWS VPC Peering or AWS Transit Gateway to safely connect to and monitor Private Subnet EC2 VMs.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Translates live WMI commodity stats into exact AWS EC2 resize and storage elastic scaling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6431" y="137160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3591" y="150876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9900"/>
                </a:solidFill>
                <a:latin typeface="IBM Plex Sans"/>
              </a:defRPr>
            </a:pPr>
            <a:r>
              <a:t>HOSTING &amp; COGNITIVE DASHBOARD</a:t>
            </a:r>
          </a:p>
          <a:p>
            <a:pPr>
              <a:spcAft>
                <a:spcPts val="1200"/>
              </a:spcAft>
              <a:defRPr sz="1400" b="1">
                <a:solidFill>
                  <a:srgbClr val="161D2C"/>
                </a:solidFill>
                <a:latin typeface="IBM Plex Sans"/>
              </a:defRPr>
            </a:pPr>
            <a:r>
              <a:t>Amazon S3 &amp; CloudFront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Master reporting script runs on an EC2 mgmt node and uploads fleet-dashboard.html to an S3 Bucket.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Amazon CloudFront caches and securely serves the static HTML dashboard to internal users via SSL/HTTPS.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  <a:latin typeface="IBM Plex Sans"/>
              </a:defRPr>
            </a:pPr>
            <a:r>
              <a:t>• AWS IAM bucket policies and VPC endpoints enforce restricted administrative access Control Lists.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457200"/>
            <a:ext cx="106683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D2C"/>
                </a:solidFill>
                <a:latin typeface="IBM Plex Sans"/>
              </a:defRPr>
            </a:pPr>
            <a:r>
              <a:t>Multi-Platform Support: OS &amp; Database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695" y="1371600"/>
            <a:ext cx="512064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4575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62FE"/>
                </a:solidFill>
                <a:latin typeface="IBM Plex Sans"/>
              </a:defRPr>
            </a:pPr>
            <a:r>
              <a:t>OPERATING SYSTEMS</a:t>
            </a:r>
          </a:p>
          <a:p>
            <a:pPr>
              <a:spcAft>
                <a:spcPts val="1400"/>
              </a:spcAft>
              <a:defRPr sz="1800" b="1">
                <a:solidFill>
                  <a:srgbClr val="161D2C"/>
                </a:solidFill>
                <a:latin typeface="IBM Plex Sans"/>
              </a:defRPr>
            </a:pPr>
            <a:r>
              <a:t>Windows Server &amp; Linux Support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Microsoft Windows Server: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Monitored natively via WMI over WinRM protocols on Ports 5985/5986. Supports NTLM/Negotiate authentication for workgroups and Kerberos for Active Directory. Reads system registry, active processes, local disks geometry, and services states.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Linux Platforms (RHEL, Ubuntu, SLES):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Monitored natively via secure SSH connections on Port 22. Supports public-key or password-based credentials. Turbonomic parses standard virtual file structures like /proc, /sys/class, and command-line execution outputs (e.g. df, top) to fetch VM and container process stats.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371600"/>
            <a:ext cx="512064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39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5D5D"/>
                </a:solidFill>
                <a:latin typeface="IBM Plex Sans"/>
              </a:defRPr>
            </a:pPr>
            <a:r>
              <a:t>DATABASE ENGINES</a:t>
            </a:r>
          </a:p>
          <a:p>
            <a:pPr>
              <a:spcAft>
                <a:spcPts val="1400"/>
              </a:spcAft>
              <a:defRPr sz="1800" b="1">
                <a:solidFill>
                  <a:srgbClr val="161D2C"/>
                </a:solidFill>
                <a:latin typeface="IBM Plex Sans"/>
              </a:defRPr>
            </a:pPr>
            <a:r>
              <a:t>MS SQL Server &amp; Oracle Database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Microsoft SQL Server: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Supports both Windows Integrated and SQL-specific credentials. Collects instances clustering configurations, HADR availability, system buffers, database size specs, log reuse status, and transactional log growth metrics.</a:t>
            </a:r>
          </a:p>
          <a:p>
            <a:pPr>
              <a:defRPr sz="1300" b="1">
                <a:solidFill>
                  <a:srgbClr val="161D2C"/>
                </a:solidFill>
                <a:latin typeface="IBM Plex Sans"/>
              </a:defRPr>
            </a:pPr>
            <a:r>
              <a:t>•  Oracle Database (on Windows/Linux):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IBM Plex Sans"/>
              </a:defRPr>
            </a:pPr>
            <a:r>
              <a:t>    Supports connections via Oracle Listener (Port 1521) or local bequeath loops. Connects to Oracle DB instances and Pluggable Databases (PDBs) to query tablespaces, SGA/PGA memory structures, active processes, and ASM disk-group allocations.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